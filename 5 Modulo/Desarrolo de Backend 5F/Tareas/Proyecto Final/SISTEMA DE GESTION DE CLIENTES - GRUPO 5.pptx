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58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4.xml" ContentType="application/vnd.openxmlformats-officedocument.presentationml.slide+xml"/>
  <Override PartName="/ppt/slides/slide63.xml" ContentType="application/vnd.openxmlformats-officedocument.presentationml.slide+xml"/>
  <Override PartName="/ppt/slides/slide62.xml" ContentType="application/vnd.openxmlformats-officedocument.presentationml.slide+xml"/>
  <Override PartName="/ppt/slides/slide61.xml" ContentType="application/vnd.openxmlformats-officedocument.presentationml.slide+xml"/>
  <Override PartName="/ppt/slides/slide60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30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-1050" y="-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customXml" Target="../customXml/item3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33832" y="0"/>
            <a:ext cx="3058168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1200" y="3581400"/>
            <a:ext cx="52832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3251200" y="1447800"/>
            <a:ext cx="5283200" cy="2133600"/>
          </a:xfrm>
        </p:spPr>
        <p:txBody>
          <a:bodyPr anchor="b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4777318" y="6426202"/>
            <a:ext cx="3759199" cy="126999"/>
          </a:xfrm>
        </p:spPr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12/10/2025</a:t>
            </a:fld>
            <a:endParaRPr lang="en-US" spc="50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8553301" y="6400800"/>
            <a:ext cx="609600" cy="152400"/>
          </a:xfrm>
        </p:spPr>
        <p:txBody>
          <a:bodyPr/>
          <a:lstStyle>
            <a:lvl1pPr algn="r">
              <a:defRPr/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4775201" y="6296248"/>
            <a:ext cx="3761316" cy="152400"/>
          </a:xfrm>
        </p:spPr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4876800" cy="5714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12/10/2025</a:t>
            </a:fld>
            <a:endParaRPr lang="en-US" spc="5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3058168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1119718" y="6426202"/>
            <a:ext cx="3759199" cy="126999"/>
          </a:xfrm>
        </p:spPr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12/10/2025</a:t>
            </a:fld>
            <a:endParaRPr lang="en-US" spc="5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5488517" y="6400800"/>
            <a:ext cx="711200" cy="152400"/>
          </a:xfrm>
        </p:spPr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117601" y="6296248"/>
            <a:ext cx="3761316" cy="152400"/>
          </a:xfrm>
        </p:spPr>
        <p:txBody>
          <a:bodyPr/>
          <a:lstStyle/>
          <a:p>
            <a:endParaRPr lang="en-US" spc="50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609600" y="1828800"/>
            <a:ext cx="4267200" cy="1752600"/>
          </a:xfrm>
        </p:spPr>
        <p:txBody>
          <a:bodyPr anchor="b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09601" y="3578225"/>
            <a:ext cx="4267527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3429000"/>
            <a:ext cx="41656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457200"/>
            <a:ext cx="41656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502400" y="457201"/>
            <a:ext cx="3759200" cy="5714999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12/10/2025</a:t>
            </a:fld>
            <a:endParaRPr lang="en-US" spc="5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75238"/>
            <a:ext cx="47752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675288"/>
            <a:ext cx="47752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599" y="3429000"/>
            <a:ext cx="47752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599" y="3840162"/>
            <a:ext cx="47752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 smtClean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502400" y="457201"/>
            <a:ext cx="3759200" cy="5714999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12/10/2025</a:t>
            </a:fld>
            <a:endParaRPr lang="en-US" spc="50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8400" y="457200"/>
            <a:ext cx="5283200" cy="5715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12/10/2025</a:t>
            </a:fld>
            <a:endParaRPr lang="en-US" spc="5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12/10/2025</a:t>
            </a:fld>
            <a:endParaRPr lang="en-US" spc="5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8800" y="1676401"/>
            <a:ext cx="33528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676400"/>
            <a:ext cx="6266688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 smtClean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0" y="3552372"/>
            <a:ext cx="29464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12/10/2025</a:t>
            </a:fld>
            <a:endParaRPr lang="en-US" spc="50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6401" y="1676400"/>
            <a:ext cx="6262623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908800" y="1676400"/>
            <a:ext cx="33528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0" y="3552372"/>
            <a:ext cx="29464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12/10/2025</a:t>
            </a:fld>
            <a:endParaRPr lang="en-US" spc="50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12/10/2025</a:t>
            </a:fld>
            <a:endParaRPr lang="en-US" spc="50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12/10/2025</a:t>
            </a:fld>
            <a:endParaRPr lang="en-US" spc="50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1764925" y="0"/>
            <a:ext cx="427076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02400" y="457200"/>
            <a:ext cx="37592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57201"/>
            <a:ext cx="48768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363200" y="6400800"/>
            <a:ext cx="7112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6502402" y="6426202"/>
            <a:ext cx="37591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12/10/2025</a:t>
            </a:fld>
            <a:endParaRPr lang="en-US" spc="5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6500285" y="6296248"/>
            <a:ext cx="3761316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iming>
    <p:tnLst>
      <p:par>
        <p:cTn id="1" dur="indefinite" restart="never" nodeType="tmRoot"/>
      </p:par>
    </p:tnLst>
  </p:timing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8">
            <a:extLst>
              <a:ext uri="{FF2B5EF4-FFF2-40B4-BE49-F238E27FC236}">
                <a16:creationId xmlns:a16="http://schemas.microsoft.com/office/drawing/2014/main" xmlns="" id="{4AA13AD3-0A4F-475A-BEBB-DEEFF5C096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3F69212-3141-6C14-2E97-9C41B469D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549" y="1866900"/>
            <a:ext cx="6804063" cy="1216558"/>
          </a:xfrm>
          <a:ln>
            <a:noFill/>
          </a:ln>
        </p:spPr>
        <p:txBody>
          <a:bodyPr anchor="b">
            <a:noAutofit/>
          </a:bodyPr>
          <a:lstStyle/>
          <a:p>
            <a:r>
              <a:rPr lang="es-PE" sz="3200" b="1" dirty="0">
                <a:solidFill>
                  <a:srgbClr val="033071"/>
                </a:solidFill>
              </a:rPr>
              <a:t>SISTEMA DE GESTIÓN DE CLIENTES PARA UNA EMPRESA DE SERVICIOS</a:t>
            </a:r>
            <a:endParaRPr lang="es-PE" sz="3200" b="1" dirty="0">
              <a:solidFill>
                <a:srgbClr val="033071"/>
              </a:solidFill>
            </a:endParaRPr>
          </a:p>
        </p:txBody>
      </p:sp>
      <p:pic>
        <p:nvPicPr>
          <p:cNvPr id="25" name="Picture 3" descr="Abstract smoke background">
            <a:extLst>
              <a:ext uri="{FF2B5EF4-FFF2-40B4-BE49-F238E27FC236}">
                <a16:creationId xmlns:a16="http://schemas.microsoft.com/office/drawing/2014/main" xmlns="" id="{69EDF5E1-4AAB-657D-28E9-507455B539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98" r="30841"/>
          <a:stretch>
            <a:fillRect/>
          </a:stretch>
        </p:blipFill>
        <p:spPr>
          <a:xfrm>
            <a:off x="7534655" y="10"/>
            <a:ext cx="4657345" cy="685799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C7640472-EAF8-C0F4-F882-EF2292D01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928"/>
          <a:stretch>
            <a:fillRect/>
          </a:stretch>
        </p:blipFill>
        <p:spPr>
          <a:xfrm>
            <a:off x="1822990" y="929964"/>
            <a:ext cx="3627182" cy="784788"/>
          </a:xfrm>
          <a:prstGeom prst="rect">
            <a:avLst/>
          </a:prstGeom>
        </p:spPr>
      </p:pic>
      <p:sp>
        <p:nvSpPr>
          <p:cNvPr id="6" name="5 Rectángulo"/>
          <p:cNvSpPr/>
          <p:nvPr/>
        </p:nvSpPr>
        <p:spPr>
          <a:xfrm>
            <a:off x="81024" y="3429001"/>
            <a:ext cx="7349924" cy="33147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3 CuadroTexto"/>
          <p:cNvSpPr txBox="1"/>
          <p:nvPr/>
        </p:nvSpPr>
        <p:spPr>
          <a:xfrm>
            <a:off x="1744120" y="329137"/>
            <a:ext cx="3784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 smtClean="0">
                <a:solidFill>
                  <a:srgbClr val="033071"/>
                </a:solidFill>
              </a:rPr>
              <a:t>Instituto Superior Privado Khipu</a:t>
            </a:r>
            <a:endParaRPr lang="es-PE" b="1" dirty="0">
              <a:solidFill>
                <a:srgbClr val="03307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4A62B60B-8B6F-A980-4235-18F600407B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489" y="3629023"/>
            <a:ext cx="6654994" cy="3028948"/>
          </a:xfrm>
        </p:spPr>
        <p:txBody>
          <a:bodyPr anchor="t">
            <a:noAutofit/>
          </a:bodyPr>
          <a:lstStyle/>
          <a:p>
            <a:pPr algn="l"/>
            <a:r>
              <a:rPr lang="es-PE" sz="2400" dirty="0">
                <a:solidFill>
                  <a:schemeClr val="bg1"/>
                </a:solidFill>
              </a:rPr>
              <a:t>Integrantes del grupo:</a:t>
            </a:r>
          </a:p>
          <a:p>
            <a:pPr marL="304800" indent="-304800" algn="l">
              <a:buFont typeface="Arial" panose="020B0604020202020204" pitchFamily="34" charset="0"/>
              <a:buChar char="•"/>
            </a:pPr>
            <a:r>
              <a:rPr lang="es-PE" sz="2400" dirty="0">
                <a:solidFill>
                  <a:schemeClr val="bg1"/>
                </a:solidFill>
              </a:rPr>
              <a:t>ARNADO RIVERA JULIO DAVID</a:t>
            </a:r>
          </a:p>
          <a:p>
            <a:pPr marL="304800" indent="-304800" algn="l">
              <a:buFont typeface="Arial" panose="020B0604020202020204" pitchFamily="34" charset="0"/>
              <a:buChar char="•"/>
            </a:pPr>
            <a:r>
              <a:rPr lang="es-PE" sz="2400" dirty="0">
                <a:solidFill>
                  <a:schemeClr val="bg1"/>
                </a:solidFill>
              </a:rPr>
              <a:t>MONGE HUAYHUA SADITH LUCERO</a:t>
            </a:r>
          </a:p>
          <a:p>
            <a:pPr marL="304800" indent="-304800" algn="l">
              <a:buFont typeface="Arial" panose="020B0604020202020204" pitchFamily="34" charset="0"/>
              <a:buChar char="•"/>
            </a:pPr>
            <a:r>
              <a:rPr lang="es-PE" sz="2400" dirty="0">
                <a:solidFill>
                  <a:schemeClr val="bg1"/>
                </a:solidFill>
              </a:rPr>
              <a:t>ROMERO </a:t>
            </a:r>
            <a:r>
              <a:rPr lang="es-PE" sz="2400" dirty="0" smtClean="0">
                <a:solidFill>
                  <a:schemeClr val="bg1"/>
                </a:solidFill>
              </a:rPr>
              <a:t>GRABIEL </a:t>
            </a:r>
            <a:r>
              <a:rPr lang="es-PE" sz="2400" dirty="0">
                <a:solidFill>
                  <a:schemeClr val="bg1"/>
                </a:solidFill>
              </a:rPr>
              <a:t>FARID </a:t>
            </a:r>
            <a:r>
              <a:rPr lang="es-PE" sz="2400" dirty="0" smtClean="0">
                <a:solidFill>
                  <a:schemeClr val="bg1"/>
                </a:solidFill>
              </a:rPr>
              <a:t>YASSER</a:t>
            </a:r>
          </a:p>
          <a:p>
            <a:pPr algn="l"/>
            <a:r>
              <a:rPr lang="es-PE" sz="2400" dirty="0" smtClean="0">
                <a:solidFill>
                  <a:schemeClr val="bg1"/>
                </a:solidFill>
              </a:rPr>
              <a:t>Curso: Desarrollo Backend </a:t>
            </a:r>
          </a:p>
          <a:p>
            <a:pPr algn="ctr"/>
            <a:r>
              <a:rPr lang="es-PE" sz="2400" dirty="0" smtClean="0">
                <a:solidFill>
                  <a:schemeClr val="bg1"/>
                </a:solidFill>
              </a:rPr>
              <a:t>Cusco – Perú</a:t>
            </a:r>
          </a:p>
          <a:p>
            <a:pPr algn="ctr"/>
            <a:r>
              <a:rPr lang="es-PE" sz="2400" dirty="0" smtClean="0">
                <a:solidFill>
                  <a:schemeClr val="bg1"/>
                </a:solidFill>
              </a:rPr>
              <a:t>2025</a:t>
            </a:r>
          </a:p>
          <a:p>
            <a:pPr algn="l"/>
            <a:endParaRPr lang="es-PE" sz="1600" dirty="0"/>
          </a:p>
        </p:txBody>
      </p:sp>
    </p:spTree>
    <p:extLst>
      <p:ext uri="{BB962C8B-B14F-4D97-AF65-F5344CB8AC3E}">
        <p14:creationId xmlns:p14="http://schemas.microsoft.com/office/powerpoint/2010/main" val="3805156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Marcador de contenido"/>
          <p:cNvSpPr>
            <a:spLocks noGrp="1"/>
          </p:cNvSpPr>
          <p:nvPr>
            <p:ph idx="1"/>
          </p:nvPr>
        </p:nvSpPr>
        <p:spPr>
          <a:xfrm>
            <a:off x="833376" y="1350687"/>
            <a:ext cx="9988952" cy="15562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PE" dirty="0"/>
              <a:t>Aplicación web en PHP basada en MVC para gestionar clientes, empleados y administradores. Utiliza </a:t>
            </a:r>
            <a:r>
              <a:rPr lang="es-PE" dirty="0" err="1"/>
              <a:t>Composer</a:t>
            </a:r>
            <a:r>
              <a:rPr lang="es-PE" dirty="0"/>
              <a:t>, </a:t>
            </a:r>
            <a:r>
              <a:rPr lang="es-PE" dirty="0" err="1"/>
              <a:t>Twig</a:t>
            </a:r>
            <a:r>
              <a:rPr lang="es-PE" dirty="0"/>
              <a:t> y </a:t>
            </a:r>
            <a:r>
              <a:rPr lang="es-PE" dirty="0" err="1"/>
              <a:t>MySQL</a:t>
            </a:r>
            <a:r>
              <a:rPr lang="es-PE" dirty="0"/>
              <a:t> con procedimientos seguros. El alcance cubre la lógica del sistema, la interfaz web y la conexión a la base de datos, sin incluir apps móviles ni servicios externos.</a:t>
            </a:r>
          </a:p>
        </p:txBody>
      </p:sp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02212" y="467327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Descripción del Proyecto</a:t>
            </a:r>
            <a:endParaRPr lang="es-PE" sz="3200" b="1" dirty="0"/>
          </a:p>
        </p:txBody>
      </p:sp>
      <p:sp>
        <p:nvSpPr>
          <p:cNvPr id="8" name="7 Rectángulo"/>
          <p:cNvSpPr/>
          <p:nvPr/>
        </p:nvSpPr>
        <p:spPr>
          <a:xfrm>
            <a:off x="833376" y="2894943"/>
            <a:ext cx="998895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419" b="1" dirty="0"/>
              <a:t>Objetivos </a:t>
            </a:r>
            <a:r>
              <a:rPr lang="es-419" b="1" dirty="0" smtClean="0"/>
              <a:t>generales</a:t>
            </a:r>
          </a:p>
          <a:p>
            <a:endParaRPr lang="es-E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419" dirty="0"/>
              <a:t>Desarrollar una aplicación web en PHP que centralice la gestión de clientes y procesos internos.</a:t>
            </a:r>
            <a:endParaRPr lang="es-E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419" dirty="0"/>
              <a:t>Mejorar la eficiencia operativa mediante la automatización de registros y tareas.</a:t>
            </a:r>
            <a:endParaRPr lang="es-E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419" dirty="0"/>
              <a:t>Garantizar un manejo seguro y ordenado de la información</a:t>
            </a:r>
            <a:r>
              <a:rPr lang="es-419" dirty="0" smtClean="0"/>
              <a:t>.</a:t>
            </a:r>
          </a:p>
          <a:p>
            <a:pPr lvl="0"/>
            <a:endParaRPr lang="es-ES" dirty="0"/>
          </a:p>
          <a:p>
            <a:r>
              <a:rPr lang="es-419" b="1" dirty="0"/>
              <a:t>Objetivos </a:t>
            </a:r>
            <a:r>
              <a:rPr lang="es-419" b="1" dirty="0" smtClean="0"/>
              <a:t>específicos</a:t>
            </a:r>
          </a:p>
          <a:p>
            <a:endParaRPr lang="es-E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419" dirty="0"/>
              <a:t>Implementar el modelo MVC para separar la lógica, la vista y el control del sistema.</a:t>
            </a:r>
            <a:endParaRPr lang="es-E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419" dirty="0"/>
              <a:t>Integrar Composer para la carga automática de clases.</a:t>
            </a:r>
            <a:endParaRPr lang="es-E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419" dirty="0"/>
              <a:t>Utilizar Twig para renderizar las vistas de forma eficiente.</a:t>
            </a:r>
            <a:endParaRPr lang="es-E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419" dirty="0"/>
              <a:t>Diseñar y construir una base de datos MySQL que soporte las operaciones básicas del sistema.</a:t>
            </a:r>
            <a:endParaRPr lang="es-ES" dirty="0"/>
          </a:p>
        </p:txBody>
      </p:sp>
      <p:pic>
        <p:nvPicPr>
          <p:cNvPr id="10" name="9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82" y="101600"/>
            <a:ext cx="13970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08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468774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Límites del sistema</a:t>
            </a:r>
            <a:endParaRPr lang="es-PE" sz="3200" b="1" dirty="0"/>
          </a:p>
        </p:txBody>
      </p:sp>
      <p:sp>
        <p:nvSpPr>
          <p:cNvPr id="8" name="7 Rectángulo"/>
          <p:cNvSpPr/>
          <p:nvPr/>
        </p:nvSpPr>
        <p:spPr>
          <a:xfrm>
            <a:off x="641108" y="1638300"/>
            <a:ext cx="10475089" cy="4796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419" sz="2400" b="1" dirty="0"/>
              <a:t>El sistema se limita </a:t>
            </a:r>
            <a:r>
              <a:rPr lang="es-419" sz="2400" b="1" dirty="0" smtClean="0"/>
              <a:t>a:</a:t>
            </a:r>
          </a:p>
          <a:p>
            <a:endParaRPr lang="es-419" sz="2400" dirty="0" smtClean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419" sz="2400" dirty="0" smtClean="0"/>
              <a:t>La </a:t>
            </a:r>
            <a:r>
              <a:rPr lang="es-419" sz="2400" dirty="0"/>
              <a:t>gestión web de clientes, empleados y administradores. </a:t>
            </a:r>
            <a:endParaRPr lang="es-419" sz="2400" dirty="0" smtClean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419" sz="2400" dirty="0" smtClean="0"/>
              <a:t>No </a:t>
            </a:r>
            <a:r>
              <a:rPr lang="es-419" sz="2400" dirty="0"/>
              <a:t>incluye aplicaciones móviles ni integración con plataformas externas. </a:t>
            </a:r>
            <a:endParaRPr lang="es-419" sz="2400" dirty="0" smtClean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419" sz="2400" dirty="0" smtClean="0"/>
              <a:t>Solo </a:t>
            </a:r>
            <a:r>
              <a:rPr lang="es-419" sz="2400" dirty="0"/>
              <a:t>opera sobre una base de datos MySQL y en un entorno PHP con MVC, Composer y Twig. </a:t>
            </a:r>
            <a:endParaRPr lang="es-419" sz="2400" dirty="0" smtClean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419" sz="2400" dirty="0" smtClean="0"/>
              <a:t>No </a:t>
            </a:r>
            <a:r>
              <a:rPr lang="es-419" sz="2400" dirty="0"/>
              <a:t>gestiona funciones contables, facturación ni reportes avanzados. </a:t>
            </a:r>
            <a:r>
              <a:rPr lang="es-419" sz="2400" dirty="0" smtClean="0"/>
              <a:t>T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419" sz="2400" dirty="0" smtClean="0"/>
              <a:t>ampoco </a:t>
            </a:r>
            <a:r>
              <a:rPr lang="es-419" sz="2400" dirty="0"/>
              <a:t>cubre análisis de datos, automatización con IA ni comunicación externa por correo o mensajería. </a:t>
            </a:r>
            <a:endParaRPr lang="es-419" sz="2400" dirty="0" smtClean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419" sz="2400" dirty="0" smtClean="0"/>
              <a:t>El </a:t>
            </a:r>
            <a:r>
              <a:rPr lang="es-419" sz="2400" dirty="0"/>
              <a:t>alcance se restringe a operaciones internas de registro, consulta y administración básica.</a:t>
            </a:r>
            <a:endParaRPr lang="es-ES" sz="2400" dirty="0"/>
          </a:p>
        </p:txBody>
      </p:sp>
      <p:pic>
        <p:nvPicPr>
          <p:cNvPr id="5" name="4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82" y="101600"/>
            <a:ext cx="13970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721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41437" y="3877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Viabilidad</a:t>
            </a:r>
            <a:endParaRPr lang="es-PE" sz="3200" b="1" dirty="0"/>
          </a:p>
        </p:txBody>
      </p:sp>
      <p:sp>
        <p:nvSpPr>
          <p:cNvPr id="8" name="7 Rectángulo"/>
          <p:cNvSpPr/>
          <p:nvPr/>
        </p:nvSpPr>
        <p:spPr>
          <a:xfrm>
            <a:off x="804118" y="1498600"/>
            <a:ext cx="1012591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400" b="1" dirty="0"/>
              <a:t>Viabilidad Técnica</a:t>
            </a:r>
            <a:r>
              <a:rPr lang="es-PE" sz="2400" dirty="0"/>
              <a:t/>
            </a:r>
            <a:br>
              <a:rPr lang="es-PE" sz="2400" dirty="0"/>
            </a:br>
            <a:r>
              <a:rPr lang="es-PE" sz="2400" dirty="0"/>
              <a:t>Uso de tecnologías maduras (PHP, </a:t>
            </a:r>
            <a:r>
              <a:rPr lang="es-PE" sz="2400" dirty="0" err="1"/>
              <a:t>MySQL</a:t>
            </a:r>
            <a:r>
              <a:rPr lang="es-PE" sz="2400" dirty="0"/>
              <a:t>, </a:t>
            </a:r>
            <a:r>
              <a:rPr lang="es-PE" sz="2400" dirty="0" err="1"/>
              <a:t>Composer</a:t>
            </a:r>
            <a:r>
              <a:rPr lang="es-PE" sz="2400" dirty="0"/>
              <a:t>, </a:t>
            </a:r>
            <a:r>
              <a:rPr lang="es-PE" sz="2400" dirty="0" err="1"/>
              <a:t>Twig</a:t>
            </a:r>
            <a:r>
              <a:rPr lang="es-PE" sz="2400" dirty="0"/>
              <a:t>, </a:t>
            </a:r>
            <a:r>
              <a:rPr lang="es-PE" sz="2400" dirty="0" err="1"/>
              <a:t>Bootstrap</a:t>
            </a:r>
            <a:r>
              <a:rPr lang="es-PE" sz="2400" dirty="0"/>
              <a:t>). El modelo MVC ordena el código y permite un desarrollo </a:t>
            </a:r>
            <a:r>
              <a:rPr lang="es-PE" sz="2400" dirty="0" err="1"/>
              <a:t>mantenible</a:t>
            </a:r>
            <a:r>
              <a:rPr lang="es-PE" sz="2400" dirty="0"/>
              <a:t>. Requiere infraestructura mínima y el equipo domina las herramientas</a:t>
            </a:r>
            <a:r>
              <a:rPr lang="es-PE" sz="2400" dirty="0" smtClean="0"/>
              <a:t>.</a:t>
            </a:r>
          </a:p>
          <a:p>
            <a:endParaRPr lang="es-PE" sz="2400" dirty="0"/>
          </a:p>
          <a:p>
            <a:r>
              <a:rPr lang="es-PE" sz="2400" b="1" dirty="0"/>
              <a:t>Viabilidad Financiera</a:t>
            </a:r>
            <a:r>
              <a:rPr lang="es-PE" sz="2400" dirty="0"/>
              <a:t/>
            </a:r>
            <a:br>
              <a:rPr lang="es-PE" sz="2400" dirty="0"/>
            </a:br>
            <a:r>
              <a:rPr lang="es-PE" sz="2400" dirty="0"/>
              <a:t>No implica inversión significativa: se desarrolló en un entorno académico con software gratuito y recursos existentes. Su implementación y mantenimiento básico no generan costos adicionales</a:t>
            </a:r>
            <a:r>
              <a:rPr lang="es-PE" sz="2400" dirty="0" smtClean="0"/>
              <a:t>.</a:t>
            </a:r>
          </a:p>
          <a:p>
            <a:endParaRPr lang="es-PE" sz="2400" dirty="0"/>
          </a:p>
          <a:p>
            <a:r>
              <a:rPr lang="es-PE" sz="2400" b="1" dirty="0"/>
              <a:t>Viabilidad Operacional</a:t>
            </a:r>
            <a:r>
              <a:rPr lang="es-PE" sz="2400" dirty="0"/>
              <a:t/>
            </a:r>
            <a:br>
              <a:rPr lang="es-PE" sz="2400" dirty="0"/>
            </a:br>
            <a:r>
              <a:rPr lang="es-PE" sz="2400" dirty="0"/>
              <a:t>Automatiza procesos hoy manuales, es fácil de usar y no requiere capacitación avanzada. Mejora el control interno, reduce errores y permite una adopción gradual sin afectar las operaciones actuales.</a:t>
            </a: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64" y="229082"/>
            <a:ext cx="1142036" cy="114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441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4137" y="1885412"/>
            <a:ext cx="2544663" cy="3416336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Cronograma</a:t>
            </a:r>
            <a:endParaRPr lang="es-PE" sz="3200" b="1" dirty="0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116" y="526560"/>
            <a:ext cx="6156184" cy="6134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039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41437" y="3877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Requisitos Funcionales</a:t>
            </a:r>
            <a:endParaRPr lang="es-PE" sz="32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350" y="1139060"/>
            <a:ext cx="8155429" cy="5123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198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41437" y="3877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Requisitos Funcionales</a:t>
            </a:r>
            <a:endParaRPr lang="es-PE" sz="32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962" y="1233768"/>
            <a:ext cx="7476622" cy="4955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6221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41437" y="190982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Casos de uso</a:t>
            </a:r>
            <a:endParaRPr lang="es-PE" sz="3200" b="1" dirty="0"/>
          </a:p>
        </p:txBody>
      </p:sp>
      <p:pic>
        <p:nvPicPr>
          <p:cNvPr id="4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547" y="911336"/>
            <a:ext cx="7418464" cy="552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45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Casos de uso</a:t>
            </a:r>
            <a:endParaRPr lang="es-PE" sz="3200" b="1" dirty="0"/>
          </a:p>
        </p:txBody>
      </p:sp>
      <p:pic>
        <p:nvPicPr>
          <p:cNvPr id="5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071" y="897037"/>
            <a:ext cx="7369216" cy="575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542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Casos de uso</a:t>
            </a:r>
            <a:endParaRPr lang="es-PE" sz="3200" b="1" dirty="0"/>
          </a:p>
        </p:txBody>
      </p:sp>
      <p:pic>
        <p:nvPicPr>
          <p:cNvPr id="4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114" y="1043882"/>
            <a:ext cx="9134468" cy="5287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422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Casos de uso</a:t>
            </a:r>
            <a:endParaRPr lang="es-PE" sz="3200" b="1" dirty="0"/>
          </a:p>
        </p:txBody>
      </p:sp>
      <p:pic>
        <p:nvPicPr>
          <p:cNvPr id="5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225" y="842177"/>
            <a:ext cx="7835152" cy="572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09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Casos de uso</a:t>
            </a:r>
            <a:endParaRPr lang="es-PE" sz="3200" b="1" dirty="0"/>
          </a:p>
        </p:txBody>
      </p:sp>
      <p:pic>
        <p:nvPicPr>
          <p:cNvPr id="4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337" y="804441"/>
            <a:ext cx="8781326" cy="524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200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Casos de uso</a:t>
            </a:r>
            <a:endParaRPr lang="es-PE" sz="3200" b="1" dirty="0"/>
          </a:p>
        </p:txBody>
      </p:sp>
      <p:pic>
        <p:nvPicPr>
          <p:cNvPr id="5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53" y="897037"/>
            <a:ext cx="9985094" cy="538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56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Casos de uso</a:t>
            </a:r>
            <a:endParaRPr lang="es-PE" sz="3200" b="1" dirty="0"/>
          </a:p>
        </p:txBody>
      </p:sp>
      <p:pic>
        <p:nvPicPr>
          <p:cNvPr id="4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603" y="827589"/>
            <a:ext cx="9938794" cy="557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81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Historias de Usuario</a:t>
            </a:r>
            <a:endParaRPr lang="es-PE" sz="3200" b="1" dirty="0"/>
          </a:p>
        </p:txBody>
      </p:sp>
      <p:sp>
        <p:nvSpPr>
          <p:cNvPr id="2" name="1 Rectángulo"/>
          <p:cNvSpPr/>
          <p:nvPr/>
        </p:nvSpPr>
        <p:spPr>
          <a:xfrm>
            <a:off x="833378" y="938525"/>
            <a:ext cx="100121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419" b="1" dirty="0"/>
              <a:t>HU01 – Iniciar sesión (RF01)</a:t>
            </a:r>
            <a:endParaRPr lang="es-ES" dirty="0"/>
          </a:p>
          <a:p>
            <a:r>
              <a:rPr lang="es-419" dirty="0"/>
              <a:t>Como usuario del sistema, quiero iniciar sesión con mis credenciales, para acceder a las funciones según mi rol</a:t>
            </a:r>
            <a:r>
              <a:rPr lang="es-419" dirty="0" smtClean="0"/>
              <a:t>.</a:t>
            </a:r>
          </a:p>
          <a:p>
            <a:endParaRPr lang="es-ES" dirty="0"/>
          </a:p>
          <a:p>
            <a:r>
              <a:rPr lang="es-419" b="1" dirty="0"/>
              <a:t>HU02 – Registro de clientes (RF02)</a:t>
            </a:r>
            <a:endParaRPr lang="es-ES" dirty="0"/>
          </a:p>
          <a:p>
            <a:r>
              <a:rPr lang="es-419" dirty="0"/>
              <a:t>Como empleado, quiero registrar nuevos clientes, para mantener actualizada la información de contacto y gestión</a:t>
            </a:r>
            <a:r>
              <a:rPr lang="es-419" dirty="0" smtClean="0"/>
              <a:t>.</a:t>
            </a:r>
          </a:p>
          <a:p>
            <a:endParaRPr lang="es-ES" dirty="0"/>
          </a:p>
          <a:p>
            <a:r>
              <a:rPr lang="es-419" b="1" dirty="0"/>
              <a:t>HU03 – Gestión de clientes (RF04)</a:t>
            </a:r>
            <a:endParaRPr lang="es-ES" dirty="0"/>
          </a:p>
          <a:p>
            <a:r>
              <a:rPr lang="es-419" dirty="0"/>
              <a:t>Como empleado, quiero editar y consultar datos de clientes, para brindar atención precisa y mantener información correcta</a:t>
            </a:r>
            <a:r>
              <a:rPr lang="es-419" dirty="0" smtClean="0"/>
              <a:t>.</a:t>
            </a:r>
          </a:p>
          <a:p>
            <a:endParaRPr lang="es-ES" dirty="0"/>
          </a:p>
          <a:p>
            <a:r>
              <a:rPr lang="es-419" b="1" dirty="0"/>
              <a:t>HU04 – Registro de empleados (RF05)</a:t>
            </a:r>
            <a:endParaRPr lang="es-ES" dirty="0"/>
          </a:p>
          <a:p>
            <a:r>
              <a:rPr lang="es-419" dirty="0"/>
              <a:t>Como administrador, quiero registrar nuevos empleados, para dar acceso al personal que usará el sistema</a:t>
            </a:r>
            <a:r>
              <a:rPr lang="es-419" dirty="0" smtClean="0"/>
              <a:t>.</a:t>
            </a:r>
          </a:p>
          <a:p>
            <a:endParaRPr lang="es-419" dirty="0" smtClean="0"/>
          </a:p>
          <a:p>
            <a:r>
              <a:rPr lang="es-419" b="1" dirty="0"/>
              <a:t>HU05 – Gestión de empleados (RF06)</a:t>
            </a:r>
            <a:endParaRPr lang="es-ES" dirty="0"/>
          </a:p>
          <a:p>
            <a:r>
              <a:rPr lang="es-419" dirty="0"/>
              <a:t>Como administrador, quiero editar, consultar o desactivar empleados, para mantener control sobre el personal activo</a:t>
            </a:r>
            <a:r>
              <a:rPr lang="es-419" dirty="0" smtClean="0"/>
              <a:t>.</a:t>
            </a:r>
            <a:endParaRPr lang="es-ES" dirty="0"/>
          </a:p>
        </p:txBody>
      </p:sp>
      <p:pic>
        <p:nvPicPr>
          <p:cNvPr id="5" name="4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61914"/>
            <a:ext cx="913436" cy="91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635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Historias de Usuario</a:t>
            </a:r>
            <a:endParaRPr lang="es-PE" sz="3200" b="1" dirty="0"/>
          </a:p>
        </p:txBody>
      </p:sp>
      <p:sp>
        <p:nvSpPr>
          <p:cNvPr id="2" name="1 Rectángulo"/>
          <p:cNvSpPr/>
          <p:nvPr/>
        </p:nvSpPr>
        <p:spPr>
          <a:xfrm>
            <a:off x="833378" y="938525"/>
            <a:ext cx="100121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419" b="1" dirty="0"/>
              <a:t>HU06 – Registro de administradores (RF07)</a:t>
            </a:r>
            <a:endParaRPr lang="es-ES" dirty="0"/>
          </a:p>
          <a:p>
            <a:r>
              <a:rPr lang="es-419" dirty="0"/>
              <a:t>Como administrador, quiero crear nuevos administradores, para delegar funciones de gestión del sistema</a:t>
            </a:r>
            <a:r>
              <a:rPr lang="es-419" dirty="0" smtClean="0"/>
              <a:t>.</a:t>
            </a:r>
          </a:p>
          <a:p>
            <a:endParaRPr lang="es-ES" dirty="0"/>
          </a:p>
          <a:p>
            <a:r>
              <a:rPr lang="es-419" b="1" dirty="0"/>
              <a:t>HU07 – Gestión de administradores (RF08)</a:t>
            </a:r>
            <a:endParaRPr lang="es-ES" dirty="0"/>
          </a:p>
          <a:p>
            <a:r>
              <a:rPr lang="es-419" dirty="0"/>
              <a:t>Como administrador, quiero editar, consultar o desactivar administradores, para regular los permisos y roles de gestión</a:t>
            </a:r>
            <a:r>
              <a:rPr lang="es-419" dirty="0" smtClean="0"/>
              <a:t>.</a:t>
            </a:r>
          </a:p>
          <a:p>
            <a:endParaRPr lang="es-ES" dirty="0"/>
          </a:p>
          <a:p>
            <a:r>
              <a:rPr lang="es-419" b="1" dirty="0"/>
              <a:t>HU08 – Registro de interacciones (RF09)</a:t>
            </a:r>
            <a:endParaRPr lang="es-ES" dirty="0"/>
          </a:p>
          <a:p>
            <a:r>
              <a:rPr lang="es-419" dirty="0"/>
              <a:t>Como empleado, quiero registrar interacciones con los clientes, para llevar un historial claro de cada gestión realizada</a:t>
            </a:r>
            <a:r>
              <a:rPr lang="es-419" dirty="0" smtClean="0"/>
              <a:t>.</a:t>
            </a:r>
          </a:p>
          <a:p>
            <a:endParaRPr lang="es-ES" dirty="0"/>
          </a:p>
          <a:p>
            <a:r>
              <a:rPr lang="es-419" b="1" dirty="0"/>
              <a:t>HU09 – Gestión de interacciones (RF10)</a:t>
            </a:r>
            <a:endParaRPr lang="es-ES" dirty="0"/>
          </a:p>
          <a:p>
            <a:r>
              <a:rPr lang="es-419" dirty="0"/>
              <a:t>Como empleado, quiero editar y consultar interacciones, para corregir información y revisar el historial de atención</a:t>
            </a:r>
            <a:r>
              <a:rPr lang="es-419" dirty="0" smtClean="0"/>
              <a:t>.</a:t>
            </a:r>
          </a:p>
          <a:p>
            <a:endParaRPr lang="es-419" dirty="0"/>
          </a:p>
          <a:p>
            <a:r>
              <a:rPr lang="es-419" b="1" dirty="0"/>
              <a:t>HU10 – Registrar solicitudes de servicio (RF11)</a:t>
            </a:r>
            <a:endParaRPr lang="es-ES" dirty="0"/>
          </a:p>
          <a:p>
            <a:r>
              <a:rPr lang="es-419" dirty="0"/>
              <a:t>Como empleado, quiero registrar solicitudes de servicio, para dar seguimiento a los requerimientos de los clientes</a:t>
            </a:r>
            <a:r>
              <a:rPr lang="es-419" dirty="0" smtClean="0"/>
              <a:t>.</a:t>
            </a:r>
            <a:endParaRPr lang="es-ES" dirty="0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61914"/>
            <a:ext cx="913436" cy="91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955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Historias de Usuario</a:t>
            </a:r>
            <a:endParaRPr lang="es-PE" sz="3200" b="1" dirty="0"/>
          </a:p>
        </p:txBody>
      </p:sp>
      <p:sp>
        <p:nvSpPr>
          <p:cNvPr id="2" name="1 Rectángulo"/>
          <p:cNvSpPr/>
          <p:nvPr/>
        </p:nvSpPr>
        <p:spPr>
          <a:xfrm>
            <a:off x="833378" y="845927"/>
            <a:ext cx="100121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419" b="1" dirty="0"/>
              <a:t>HU11 – Gestión de solicitudes de servicio (RF12)</a:t>
            </a:r>
            <a:endParaRPr lang="es-ES" dirty="0"/>
          </a:p>
          <a:p>
            <a:r>
              <a:rPr lang="es-419" dirty="0"/>
              <a:t>Como empleado, quiero editar y consultar solicitudes, para mantener actualizado su estado y revisar avances</a:t>
            </a:r>
            <a:r>
              <a:rPr lang="es-419" dirty="0" smtClean="0"/>
              <a:t>.</a:t>
            </a:r>
          </a:p>
          <a:p>
            <a:endParaRPr lang="es-ES" dirty="0"/>
          </a:p>
          <a:p>
            <a:r>
              <a:rPr lang="es-419" b="1" dirty="0"/>
              <a:t>HU12 – Crear tareas (RF13)</a:t>
            </a:r>
            <a:endParaRPr lang="es-ES" dirty="0"/>
          </a:p>
          <a:p>
            <a:r>
              <a:rPr lang="es-419" dirty="0"/>
              <a:t>Como administrador, quiero crear tareas, para organizar actividades internas del equipo</a:t>
            </a:r>
            <a:r>
              <a:rPr lang="es-419" dirty="0" smtClean="0"/>
              <a:t>.</a:t>
            </a:r>
          </a:p>
          <a:p>
            <a:endParaRPr lang="es-ES" dirty="0"/>
          </a:p>
          <a:p>
            <a:r>
              <a:rPr lang="es-419" b="1" dirty="0"/>
              <a:t>HU13 – Editar tareas (RF14)</a:t>
            </a:r>
            <a:endParaRPr lang="es-ES" dirty="0"/>
          </a:p>
          <a:p>
            <a:r>
              <a:rPr lang="es-419" dirty="0"/>
              <a:t>Como administrador, quiero editar tareas existentes, para ajustar detalles, prioridades o fechas cuando sea necesario</a:t>
            </a:r>
            <a:r>
              <a:rPr lang="es-419" dirty="0" smtClean="0"/>
              <a:t>.</a:t>
            </a:r>
          </a:p>
          <a:p>
            <a:endParaRPr lang="es-ES" dirty="0"/>
          </a:p>
          <a:p>
            <a:r>
              <a:rPr lang="es-419" b="1" dirty="0"/>
              <a:t>HU14 – Asignar tareas (RF15)</a:t>
            </a:r>
            <a:endParaRPr lang="es-ES" dirty="0"/>
          </a:p>
          <a:p>
            <a:r>
              <a:rPr lang="es-419" dirty="0"/>
              <a:t>Como administrador, quiero asignar tareas a empleados específicos, para definir responsables y distribuir el trabajo</a:t>
            </a:r>
            <a:r>
              <a:rPr lang="es-419" dirty="0" smtClean="0"/>
              <a:t>.</a:t>
            </a:r>
          </a:p>
          <a:p>
            <a:endParaRPr lang="es-ES" dirty="0"/>
          </a:p>
          <a:p>
            <a:r>
              <a:rPr lang="es-419" b="1" dirty="0"/>
              <a:t>HU15 – Actualizar estado de tareas (RF16)</a:t>
            </a:r>
            <a:endParaRPr lang="es-ES" dirty="0"/>
          </a:p>
          <a:p>
            <a:r>
              <a:rPr lang="es-419" dirty="0"/>
              <a:t>Como empleado, quiero actualizar el estado de mis tareas, para reportar progreso y mantener el control</a:t>
            </a:r>
            <a:r>
              <a:rPr lang="es-419" dirty="0" smtClean="0"/>
              <a:t>.</a:t>
            </a:r>
          </a:p>
          <a:p>
            <a:endParaRPr lang="es-ES" dirty="0"/>
          </a:p>
          <a:p>
            <a:r>
              <a:rPr lang="es-419" b="1" dirty="0"/>
              <a:t>HU16 – Consulta de tareas (RF17)</a:t>
            </a:r>
            <a:endParaRPr lang="es-ES" dirty="0"/>
          </a:p>
          <a:p>
            <a:r>
              <a:rPr lang="es-419" dirty="0"/>
              <a:t>Como usuario del sistema, quiero consultar tareas creadas o asignadas, para ver mis pendientes y hacer seguimiento.</a:t>
            </a:r>
            <a:endParaRPr lang="es-ES" dirty="0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61914"/>
            <a:ext cx="913436" cy="91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926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185195" y="2413321"/>
            <a:ext cx="2835797" cy="1776714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Diagrama de </a:t>
            </a:r>
            <a:br>
              <a:rPr lang="es-PE" sz="3200" b="1" dirty="0" smtClean="0"/>
            </a:br>
            <a:r>
              <a:rPr lang="es-PE" sz="3200" b="1" dirty="0" smtClean="0"/>
              <a:t>flujo</a:t>
            </a:r>
            <a:endParaRPr lang="es-PE" sz="3200" b="1" dirty="0"/>
          </a:p>
        </p:txBody>
      </p:sp>
      <p:pic>
        <p:nvPicPr>
          <p:cNvPr id="4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688" y="196769"/>
            <a:ext cx="7091424" cy="644130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335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Requisitos No Funcionales</a:t>
            </a:r>
            <a:endParaRPr lang="es-PE" sz="32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753" y="1042284"/>
            <a:ext cx="9519732" cy="47797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827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495139" y="954911"/>
            <a:ext cx="2294360" cy="3964330"/>
          </a:xfrm>
        </p:spPr>
        <p:txBody>
          <a:bodyPr>
            <a:normAutofit/>
          </a:bodyPr>
          <a:lstStyle/>
          <a:p>
            <a:pPr algn="ctr"/>
            <a:r>
              <a:rPr lang="es-PE" b="1" dirty="0" smtClean="0"/>
              <a:t>Diagrama de Arquitectura</a:t>
            </a:r>
            <a:endParaRPr lang="es-PE" b="1" dirty="0"/>
          </a:p>
        </p:txBody>
      </p:sp>
      <p:pic>
        <p:nvPicPr>
          <p:cNvPr id="4" name="0 Imagen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552" y="341452"/>
            <a:ext cx="7716456" cy="617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507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190339" y="993010"/>
            <a:ext cx="1828961" cy="3998089"/>
          </a:xfrm>
        </p:spPr>
        <p:txBody>
          <a:bodyPr>
            <a:normAutofit/>
          </a:bodyPr>
          <a:lstStyle/>
          <a:p>
            <a:pPr algn="ctr"/>
            <a:r>
              <a:rPr lang="es-PE" b="1" dirty="0" smtClean="0"/>
              <a:t>Modelo Entidad - Relación</a:t>
            </a:r>
            <a:endParaRPr lang="es-PE" b="1" dirty="0"/>
          </a:p>
        </p:txBody>
      </p:sp>
      <p:pic>
        <p:nvPicPr>
          <p:cNvPr id="5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635000"/>
            <a:ext cx="9271000" cy="5740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46415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Interfaces- Inicio de sesión administradores</a:t>
            </a:r>
            <a:endParaRPr lang="es-PE" sz="3200" b="1" dirty="0"/>
          </a:p>
        </p:txBody>
      </p:sp>
      <p:pic>
        <p:nvPicPr>
          <p:cNvPr id="4" name="3 Imagen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990600"/>
            <a:ext cx="10363200" cy="4876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15325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Interfaces – Inicio de sesión empleados</a:t>
            </a:r>
            <a:endParaRPr lang="es-PE" sz="3200" b="1" dirty="0"/>
          </a:p>
        </p:txBody>
      </p:sp>
      <p:pic>
        <p:nvPicPr>
          <p:cNvPr id="5" name="4 Imagen"/>
          <p:cNvPicPr/>
          <p:nvPr/>
        </p:nvPicPr>
        <p:blipFill>
          <a:blip r:embed="rId2"/>
          <a:stretch>
            <a:fillRect/>
          </a:stretch>
        </p:blipFill>
        <p:spPr>
          <a:xfrm>
            <a:off x="622300" y="1054100"/>
            <a:ext cx="10947400" cy="4749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86945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Interfaces- Gestionar Administradores</a:t>
            </a:r>
            <a:endParaRPr lang="es-PE" sz="3200" b="1" dirty="0"/>
          </a:p>
        </p:txBody>
      </p:sp>
      <p:pic>
        <p:nvPicPr>
          <p:cNvPr id="4" name="3 Imagen"/>
          <p:cNvPicPr/>
          <p:nvPr/>
        </p:nvPicPr>
        <p:blipFill>
          <a:blip r:embed="rId2"/>
          <a:stretch>
            <a:fillRect/>
          </a:stretch>
        </p:blipFill>
        <p:spPr>
          <a:xfrm>
            <a:off x="596900" y="749299"/>
            <a:ext cx="10998200" cy="53594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81484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Interfaces – Modificar Administrador</a:t>
            </a:r>
            <a:endParaRPr lang="es-PE" sz="3200" b="1" dirty="0"/>
          </a:p>
        </p:txBody>
      </p:sp>
      <p:pic>
        <p:nvPicPr>
          <p:cNvPr id="5" name="4 Imagen"/>
          <p:cNvPicPr/>
          <p:nvPr/>
        </p:nvPicPr>
        <p:blipFill>
          <a:blip r:embed="rId2"/>
          <a:stretch>
            <a:fillRect/>
          </a:stretch>
        </p:blipFill>
        <p:spPr>
          <a:xfrm>
            <a:off x="990600" y="927099"/>
            <a:ext cx="10210800" cy="52070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13386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Interfaces – Modificar Contraseña de Administrador</a:t>
            </a:r>
            <a:endParaRPr lang="es-PE" sz="3200" b="1" dirty="0"/>
          </a:p>
        </p:txBody>
      </p:sp>
      <p:pic>
        <p:nvPicPr>
          <p:cNvPr id="4" name="3 Imagen"/>
          <p:cNvPicPr/>
          <p:nvPr/>
        </p:nvPicPr>
        <p:blipFill>
          <a:blip r:embed="rId2"/>
          <a:stretch>
            <a:fillRect/>
          </a:stretch>
        </p:blipFill>
        <p:spPr>
          <a:xfrm>
            <a:off x="965200" y="1346199"/>
            <a:ext cx="10261600" cy="41656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53595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Interfaces </a:t>
            </a:r>
            <a:r>
              <a:rPr lang="es-PE" sz="3200" b="1" dirty="0"/>
              <a:t>– Gestionar empleados</a:t>
            </a:r>
          </a:p>
        </p:txBody>
      </p:sp>
      <p:pic>
        <p:nvPicPr>
          <p:cNvPr id="5" name="4 Imagen"/>
          <p:cNvPicPr/>
          <p:nvPr/>
        </p:nvPicPr>
        <p:blipFill>
          <a:blip r:embed="rId2"/>
          <a:stretch>
            <a:fillRect/>
          </a:stretch>
        </p:blipFill>
        <p:spPr>
          <a:xfrm>
            <a:off x="1016000" y="1117600"/>
            <a:ext cx="10160000" cy="5003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55271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Interfaces </a:t>
            </a:r>
            <a:r>
              <a:rPr lang="es-PE" sz="3200" b="1" dirty="0"/>
              <a:t>– Modificar empleado</a:t>
            </a:r>
          </a:p>
        </p:txBody>
      </p:sp>
      <p:pic>
        <p:nvPicPr>
          <p:cNvPr id="4" name="3 Imagen"/>
          <p:cNvPicPr/>
          <p:nvPr/>
        </p:nvPicPr>
        <p:blipFill>
          <a:blip r:embed="rId2"/>
          <a:stretch>
            <a:fillRect/>
          </a:stretch>
        </p:blipFill>
        <p:spPr>
          <a:xfrm>
            <a:off x="1041400" y="888999"/>
            <a:ext cx="10109200" cy="50800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28896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Interfaces </a:t>
            </a:r>
            <a:r>
              <a:rPr lang="es-PE" sz="3200" b="1" dirty="0"/>
              <a:t>– Modificar contraseña del empleado</a:t>
            </a:r>
          </a:p>
        </p:txBody>
      </p:sp>
      <p:pic>
        <p:nvPicPr>
          <p:cNvPr id="5" name="4 Imagen"/>
          <p:cNvPicPr/>
          <p:nvPr/>
        </p:nvPicPr>
        <p:blipFill>
          <a:blip r:embed="rId2"/>
          <a:stretch>
            <a:fillRect/>
          </a:stretch>
        </p:blipFill>
        <p:spPr>
          <a:xfrm>
            <a:off x="660400" y="1282700"/>
            <a:ext cx="10871200" cy="42926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91122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Interfaces </a:t>
            </a:r>
            <a:r>
              <a:rPr lang="es-PE" sz="3200" b="1" dirty="0"/>
              <a:t>– Asignar tarea a un empleado</a:t>
            </a:r>
          </a:p>
        </p:txBody>
      </p:sp>
      <p:pic>
        <p:nvPicPr>
          <p:cNvPr id="4" name="3 Imagen"/>
          <p:cNvPicPr/>
          <p:nvPr/>
        </p:nvPicPr>
        <p:blipFill>
          <a:blip r:embed="rId2"/>
          <a:stretch>
            <a:fillRect/>
          </a:stretch>
        </p:blipFill>
        <p:spPr>
          <a:xfrm>
            <a:off x="800100" y="965199"/>
            <a:ext cx="10591800" cy="49276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36180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Interfaces </a:t>
            </a:r>
            <a:r>
              <a:rPr lang="es-PE" sz="3200" b="1" dirty="0"/>
              <a:t>– Gestionar tareas</a:t>
            </a:r>
          </a:p>
        </p:txBody>
      </p:sp>
      <p:pic>
        <p:nvPicPr>
          <p:cNvPr id="5" name="4 Imagen"/>
          <p:cNvPicPr/>
          <p:nvPr/>
        </p:nvPicPr>
        <p:blipFill>
          <a:blip r:embed="rId2"/>
          <a:stretch>
            <a:fillRect/>
          </a:stretch>
        </p:blipFill>
        <p:spPr>
          <a:xfrm>
            <a:off x="939800" y="1104900"/>
            <a:ext cx="10312400" cy="4648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212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Interfaces </a:t>
            </a:r>
            <a:r>
              <a:rPr lang="es-PE" sz="3200" b="1" dirty="0"/>
              <a:t>– Modificar tarea</a:t>
            </a:r>
          </a:p>
        </p:txBody>
      </p:sp>
      <p:pic>
        <p:nvPicPr>
          <p:cNvPr id="4" name="3 Imagen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901700"/>
            <a:ext cx="10515600" cy="50546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30298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Interfaces </a:t>
            </a:r>
            <a:r>
              <a:rPr lang="es-PE" sz="3200" b="1" dirty="0"/>
              <a:t>– Gestionar clientes</a:t>
            </a:r>
          </a:p>
        </p:txBody>
      </p:sp>
      <p:pic>
        <p:nvPicPr>
          <p:cNvPr id="5" name="4 Imagen"/>
          <p:cNvPicPr/>
          <p:nvPr/>
        </p:nvPicPr>
        <p:blipFill>
          <a:blip r:embed="rId2"/>
          <a:stretch>
            <a:fillRect/>
          </a:stretch>
        </p:blipFill>
        <p:spPr>
          <a:xfrm>
            <a:off x="1003300" y="1066799"/>
            <a:ext cx="10185400" cy="50292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8224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Interfaces </a:t>
            </a:r>
            <a:r>
              <a:rPr lang="es-PE" sz="3200" b="1" dirty="0"/>
              <a:t>– Registrar interacción</a:t>
            </a:r>
          </a:p>
        </p:txBody>
      </p:sp>
      <p:pic>
        <p:nvPicPr>
          <p:cNvPr id="4" name="3 Imagen"/>
          <p:cNvPicPr/>
          <p:nvPr/>
        </p:nvPicPr>
        <p:blipFill>
          <a:blip r:embed="rId2"/>
          <a:stretch>
            <a:fillRect/>
          </a:stretch>
        </p:blipFill>
        <p:spPr>
          <a:xfrm>
            <a:off x="990600" y="1117599"/>
            <a:ext cx="10210800" cy="46228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99753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Interfaces </a:t>
            </a:r>
            <a:r>
              <a:rPr lang="es-PE" sz="3200" b="1" dirty="0"/>
              <a:t>– Registrar solicitud servicio</a:t>
            </a:r>
          </a:p>
        </p:txBody>
      </p:sp>
      <p:pic>
        <p:nvPicPr>
          <p:cNvPr id="5" name="4 Imagen"/>
          <p:cNvPicPr/>
          <p:nvPr/>
        </p:nvPicPr>
        <p:blipFill>
          <a:blip r:embed="rId2"/>
          <a:stretch>
            <a:fillRect/>
          </a:stretch>
        </p:blipFill>
        <p:spPr>
          <a:xfrm>
            <a:off x="977900" y="1016000"/>
            <a:ext cx="10236200" cy="4826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7528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Interfaces </a:t>
            </a:r>
            <a:r>
              <a:rPr lang="es-PE" sz="3200" b="1" dirty="0"/>
              <a:t>– Modificar cliente</a:t>
            </a:r>
          </a:p>
        </p:txBody>
      </p:sp>
      <p:pic>
        <p:nvPicPr>
          <p:cNvPr id="4" name="3 Imagen"/>
          <p:cNvPicPr/>
          <p:nvPr/>
        </p:nvPicPr>
        <p:blipFill>
          <a:blip r:embed="rId2"/>
          <a:stretch>
            <a:fillRect/>
          </a:stretch>
        </p:blipFill>
        <p:spPr>
          <a:xfrm>
            <a:off x="901700" y="1041400"/>
            <a:ext cx="10388600" cy="4775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27073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Interfaces </a:t>
            </a:r>
            <a:r>
              <a:rPr lang="es-PE" sz="3200" b="1" dirty="0"/>
              <a:t>– Gestionar interacciones</a:t>
            </a:r>
          </a:p>
        </p:txBody>
      </p:sp>
      <p:pic>
        <p:nvPicPr>
          <p:cNvPr id="5" name="4 Imagen"/>
          <p:cNvPicPr/>
          <p:nvPr/>
        </p:nvPicPr>
        <p:blipFill>
          <a:blip r:embed="rId2"/>
          <a:stretch>
            <a:fillRect/>
          </a:stretch>
        </p:blipFill>
        <p:spPr>
          <a:xfrm>
            <a:off x="863600" y="1625599"/>
            <a:ext cx="10464800" cy="36068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4390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Interfaces </a:t>
            </a:r>
            <a:r>
              <a:rPr lang="es-PE" sz="3200" b="1" dirty="0"/>
              <a:t>– Modificar interacción</a:t>
            </a:r>
          </a:p>
        </p:txBody>
      </p:sp>
      <p:pic>
        <p:nvPicPr>
          <p:cNvPr id="4" name="3 Imagen"/>
          <p:cNvPicPr/>
          <p:nvPr/>
        </p:nvPicPr>
        <p:blipFill>
          <a:blip r:embed="rId2"/>
          <a:stretch>
            <a:fillRect/>
          </a:stretch>
        </p:blipFill>
        <p:spPr>
          <a:xfrm>
            <a:off x="825500" y="1130299"/>
            <a:ext cx="10541000" cy="45974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3337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Interfaces </a:t>
            </a:r>
            <a:r>
              <a:rPr lang="es-PE" sz="3200" b="1" dirty="0"/>
              <a:t>– Gestionar solicitudes de servicio</a:t>
            </a:r>
          </a:p>
        </p:txBody>
      </p:sp>
      <p:pic>
        <p:nvPicPr>
          <p:cNvPr id="5" name="4 Imagen"/>
          <p:cNvPicPr/>
          <p:nvPr/>
        </p:nvPicPr>
        <p:blipFill>
          <a:blip r:embed="rId2"/>
          <a:stretch>
            <a:fillRect/>
          </a:stretch>
        </p:blipFill>
        <p:spPr>
          <a:xfrm>
            <a:off x="774700" y="1371600"/>
            <a:ext cx="10642600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02754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Interfaces </a:t>
            </a:r>
            <a:r>
              <a:rPr lang="es-PE" sz="3200" b="1" dirty="0"/>
              <a:t>– Modificar solicitud de servicio</a:t>
            </a:r>
          </a:p>
        </p:txBody>
      </p:sp>
      <p:pic>
        <p:nvPicPr>
          <p:cNvPr id="4" name="3 Imagen"/>
          <p:cNvPicPr/>
          <p:nvPr/>
        </p:nvPicPr>
        <p:blipFill>
          <a:blip r:embed="rId2"/>
          <a:stretch>
            <a:fillRect/>
          </a:stretch>
        </p:blipFill>
        <p:spPr>
          <a:xfrm>
            <a:off x="749300" y="1079500"/>
            <a:ext cx="10693400" cy="4699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91732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Interfaces </a:t>
            </a:r>
            <a:r>
              <a:rPr lang="es-PE" sz="3200" b="1" dirty="0"/>
              <a:t>– Gestionar tareas desde la cuenta de un empleado</a:t>
            </a:r>
          </a:p>
        </p:txBody>
      </p:sp>
      <p:pic>
        <p:nvPicPr>
          <p:cNvPr id="5" name="4 Imagen"/>
          <p:cNvPicPr/>
          <p:nvPr/>
        </p:nvPicPr>
        <p:blipFill>
          <a:blip r:embed="rId2"/>
          <a:stretch>
            <a:fillRect/>
          </a:stretch>
        </p:blipFill>
        <p:spPr>
          <a:xfrm>
            <a:off x="774700" y="1346199"/>
            <a:ext cx="10642600" cy="41656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2371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Interfaces </a:t>
            </a:r>
            <a:r>
              <a:rPr lang="es-PE" sz="3200" b="1" dirty="0"/>
              <a:t>– Actualizar estado de tarea</a:t>
            </a:r>
          </a:p>
        </p:txBody>
      </p:sp>
      <p:pic>
        <p:nvPicPr>
          <p:cNvPr id="7" name="6 Imagen"/>
          <p:cNvPicPr/>
          <p:nvPr/>
        </p:nvPicPr>
        <p:blipFill>
          <a:blip r:embed="rId2"/>
          <a:stretch>
            <a:fillRect/>
          </a:stretch>
        </p:blipFill>
        <p:spPr>
          <a:xfrm>
            <a:off x="889000" y="990600"/>
            <a:ext cx="10414000" cy="4876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5776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Diagramas de navegación – Gestionar administradores</a:t>
            </a:r>
            <a:endParaRPr lang="es-PE" sz="3200" b="1" dirty="0"/>
          </a:p>
        </p:txBody>
      </p:sp>
      <p:pic>
        <p:nvPicPr>
          <p:cNvPr id="5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876300"/>
            <a:ext cx="9906000" cy="5105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2053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Diagramas de navegación </a:t>
            </a:r>
            <a:r>
              <a:rPr lang="es-PE" sz="3200" b="1" dirty="0"/>
              <a:t>– Gestionar empleados</a:t>
            </a:r>
          </a:p>
        </p:txBody>
      </p:sp>
      <p:pic>
        <p:nvPicPr>
          <p:cNvPr id="4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200" y="1016000"/>
            <a:ext cx="9245600" cy="4826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04466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Diagramas de navegación </a:t>
            </a:r>
            <a:r>
              <a:rPr lang="es-PE" sz="3200" b="1" dirty="0"/>
              <a:t>– Gestionar tareas</a:t>
            </a:r>
          </a:p>
        </p:txBody>
      </p:sp>
      <p:pic>
        <p:nvPicPr>
          <p:cNvPr id="5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700" y="1295400"/>
            <a:ext cx="9118600" cy="4267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83116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Diagramas de navegación </a:t>
            </a:r>
            <a:r>
              <a:rPr lang="es-PE" sz="3200" b="1" dirty="0"/>
              <a:t>– Gestionar clientes</a:t>
            </a:r>
          </a:p>
        </p:txBody>
      </p:sp>
      <p:pic>
        <p:nvPicPr>
          <p:cNvPr id="4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499" y="1015999"/>
            <a:ext cx="9017002" cy="48260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50396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Diagramas de navegación </a:t>
            </a:r>
            <a:r>
              <a:rPr lang="es-PE" sz="3200" b="1" dirty="0"/>
              <a:t>– Gestionar Interacciones</a:t>
            </a:r>
          </a:p>
        </p:txBody>
      </p:sp>
      <p:pic>
        <p:nvPicPr>
          <p:cNvPr id="5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206500"/>
            <a:ext cx="9296400" cy="4445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61529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Diagramas de navegación </a:t>
            </a:r>
            <a:r>
              <a:rPr lang="es-PE" sz="3200" b="1" dirty="0"/>
              <a:t>– Gestionar solicitudes de servicio</a:t>
            </a:r>
          </a:p>
        </p:txBody>
      </p:sp>
      <p:pic>
        <p:nvPicPr>
          <p:cNvPr id="4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500" y="1168400"/>
            <a:ext cx="9271000" cy="4521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81321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Diagramas de navegación </a:t>
            </a:r>
            <a:r>
              <a:rPr lang="es-PE" sz="3200" b="1" dirty="0"/>
              <a:t>– Actualizar estado de tareas</a:t>
            </a:r>
          </a:p>
        </p:txBody>
      </p:sp>
      <p:pic>
        <p:nvPicPr>
          <p:cNvPr id="5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900" y="1181100"/>
            <a:ext cx="9728200" cy="4495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89846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Diagramas de secuencia</a:t>
            </a:r>
            <a:endParaRPr lang="es-PE" sz="3200" b="1" dirty="0"/>
          </a:p>
        </p:txBody>
      </p:sp>
      <p:pic>
        <p:nvPicPr>
          <p:cNvPr id="4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889000"/>
            <a:ext cx="10566400" cy="535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820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Diagramas de secuencia</a:t>
            </a:r>
            <a:endParaRPr lang="es-PE" sz="3200" b="1" dirty="0"/>
          </a:p>
        </p:txBody>
      </p:sp>
      <p:pic>
        <p:nvPicPr>
          <p:cNvPr id="5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100" y="800099"/>
            <a:ext cx="10083800" cy="525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107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Diagramas de secuencia</a:t>
            </a:r>
            <a:endParaRPr lang="es-PE" sz="3200" b="1" dirty="0"/>
          </a:p>
        </p:txBody>
      </p:sp>
      <p:pic>
        <p:nvPicPr>
          <p:cNvPr id="4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65199"/>
            <a:ext cx="10515600" cy="515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46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Diagramas de secuencia</a:t>
            </a:r>
            <a:endParaRPr lang="es-PE" sz="3200" b="1" dirty="0"/>
          </a:p>
        </p:txBody>
      </p:sp>
      <p:pic>
        <p:nvPicPr>
          <p:cNvPr id="5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825500"/>
            <a:ext cx="9906000" cy="520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745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Diagramas de secuencia</a:t>
            </a:r>
            <a:endParaRPr lang="es-PE" sz="3200" b="1" dirty="0"/>
          </a:p>
        </p:txBody>
      </p:sp>
      <p:pic>
        <p:nvPicPr>
          <p:cNvPr id="4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" y="850900"/>
            <a:ext cx="9956800" cy="515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391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Diagramas de secuencia</a:t>
            </a:r>
            <a:endParaRPr lang="es-PE" sz="3200" b="1" dirty="0"/>
          </a:p>
        </p:txBody>
      </p:sp>
      <p:pic>
        <p:nvPicPr>
          <p:cNvPr id="5" name="0 Imagen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800" y="749299"/>
            <a:ext cx="9753600" cy="5740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51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3012" y="109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Diagrama de despliegue</a:t>
            </a:r>
            <a:endParaRPr lang="es-PE" sz="3200" b="1" dirty="0"/>
          </a:p>
        </p:txBody>
      </p:sp>
      <p:pic>
        <p:nvPicPr>
          <p:cNvPr id="4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0" y="812799"/>
            <a:ext cx="7950200" cy="563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21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194764" y="1168400"/>
            <a:ext cx="101727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400" b="1" dirty="0"/>
              <a:t>API </a:t>
            </a:r>
            <a:r>
              <a:rPr lang="es-PE" sz="2400" b="1" dirty="0" err="1"/>
              <a:t>Contracts</a:t>
            </a:r>
            <a:r>
              <a:rPr lang="es-PE" sz="2400" dirty="0"/>
              <a:t/>
            </a:r>
            <a:br>
              <a:rPr lang="es-PE" sz="2400" dirty="0"/>
            </a:br>
            <a:r>
              <a:rPr lang="es-PE" sz="2400" dirty="0"/>
              <a:t>La arquitectura es monolítica, por lo que no se emplean </a:t>
            </a:r>
            <a:r>
              <a:rPr lang="es-PE" sz="2400" dirty="0" err="1"/>
              <a:t>APIs</a:t>
            </a:r>
            <a:r>
              <a:rPr lang="es-PE" sz="2400" dirty="0"/>
              <a:t> para la comunicación interna. Toda la lógica ocurre dentro de la misma aplicación mediante controladores MVC, sin contratos de API ni </a:t>
            </a:r>
            <a:r>
              <a:rPr lang="es-PE" sz="2400" dirty="0" err="1"/>
              <a:t>endpoints</a:t>
            </a:r>
            <a:r>
              <a:rPr lang="es-PE" sz="2400" dirty="0"/>
              <a:t> externos. Las validaciones y reglas de negocio se gestionan directamente en controladores y modelos</a:t>
            </a:r>
            <a:r>
              <a:rPr lang="es-PE" sz="2400" dirty="0" smtClean="0"/>
              <a:t>.</a:t>
            </a:r>
          </a:p>
          <a:p>
            <a:endParaRPr lang="es-PE" sz="2400" dirty="0"/>
          </a:p>
          <a:p>
            <a:r>
              <a:rPr lang="es-PE" sz="2400" b="1" dirty="0"/>
              <a:t>Gestión de Integraciones</a:t>
            </a:r>
            <a:r>
              <a:rPr lang="es-PE" sz="2400" dirty="0"/>
              <a:t/>
            </a:r>
            <a:br>
              <a:rPr lang="es-PE" sz="2400" dirty="0"/>
            </a:br>
            <a:r>
              <a:rPr lang="es-PE" sz="2400" dirty="0"/>
              <a:t>Las integraciones se limitan a librerías internas añadidas con </a:t>
            </a:r>
            <a:r>
              <a:rPr lang="es-PE" sz="2400" dirty="0" err="1"/>
              <a:t>Composer</a:t>
            </a:r>
            <a:r>
              <a:rPr lang="es-PE" sz="2400" dirty="0"/>
              <a:t>, como </a:t>
            </a:r>
            <a:r>
              <a:rPr lang="es-PE" sz="2400" dirty="0" err="1"/>
              <a:t>Twig</a:t>
            </a:r>
            <a:r>
              <a:rPr lang="es-PE" sz="2400" dirty="0"/>
              <a:t> para las vistas y otras utilidades para la carga automática de clases. En el frontend se usa </a:t>
            </a:r>
            <a:r>
              <a:rPr lang="es-PE" sz="2400" dirty="0" err="1"/>
              <a:t>Bootstrap</a:t>
            </a:r>
            <a:r>
              <a:rPr lang="es-PE" sz="2400" dirty="0"/>
              <a:t> para estilos y componentes. No existen servicios externos ni </a:t>
            </a:r>
            <a:r>
              <a:rPr lang="es-PE" sz="2400" dirty="0" err="1"/>
              <a:t>APIs</a:t>
            </a:r>
            <a:r>
              <a:rPr lang="es-PE" sz="2400" dirty="0"/>
              <a:t> de terceros, lo que simplifica el mantenimiento y reduce la complejidad.</a:t>
            </a:r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127000"/>
            <a:ext cx="1169364" cy="116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104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486619" y="3131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Desarrollo por módulos</a:t>
            </a:r>
            <a:endParaRPr lang="es-PE" sz="3200" b="1" dirty="0"/>
          </a:p>
        </p:txBody>
      </p:sp>
      <p:sp>
        <p:nvSpPr>
          <p:cNvPr id="2" name="1 Rectángulo"/>
          <p:cNvSpPr/>
          <p:nvPr/>
        </p:nvSpPr>
        <p:spPr>
          <a:xfrm>
            <a:off x="914400" y="1270000"/>
            <a:ext cx="10223500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s-419" sz="2800" dirty="0"/>
              <a:t>Los módulos principales son:</a:t>
            </a:r>
            <a:endParaRPr lang="es-ES" sz="2800" dirty="0"/>
          </a:p>
          <a:p>
            <a:pPr marL="285750" lvl="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419" sz="2800" b="1" dirty="0"/>
              <a:t>Administradores:</a:t>
            </a:r>
            <a:r>
              <a:rPr lang="es-419" sz="2800" dirty="0"/>
              <a:t> gestión de datos de administradores y control de accesos</a:t>
            </a:r>
            <a:r>
              <a:rPr lang="es-419" sz="2800" dirty="0" smtClean="0"/>
              <a:t>.</a:t>
            </a:r>
            <a:endParaRPr lang="es-ES" sz="2800" dirty="0"/>
          </a:p>
          <a:p>
            <a:pPr marL="285750" lvl="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419" sz="2800" b="1" dirty="0"/>
              <a:t>Empleados:</a:t>
            </a:r>
            <a:r>
              <a:rPr lang="es-419" sz="2800" dirty="0"/>
              <a:t> registro, edición y seguimiento de información del personal.</a:t>
            </a:r>
            <a:endParaRPr lang="es-ES" sz="2800" dirty="0"/>
          </a:p>
          <a:p>
            <a:pPr marL="285750" lvl="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419" sz="2800" b="1" dirty="0"/>
              <a:t>Clientes:</a:t>
            </a:r>
            <a:r>
              <a:rPr lang="es-419" sz="2800" dirty="0"/>
              <a:t> manejo de información y consultas de clientes.</a:t>
            </a:r>
            <a:endParaRPr lang="es-ES" sz="2800" dirty="0"/>
          </a:p>
          <a:p>
            <a:pPr marL="285750" lvl="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419" sz="2800" b="1" dirty="0"/>
              <a:t>Interacciones:</a:t>
            </a:r>
            <a:r>
              <a:rPr lang="es-419" sz="2800" dirty="0"/>
              <a:t> registro y seguimiento de interacciones con clientes.</a:t>
            </a:r>
            <a:endParaRPr lang="es-ES" sz="2800" dirty="0"/>
          </a:p>
          <a:p>
            <a:pPr marL="285750" lvl="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419" sz="2800" b="1" dirty="0"/>
              <a:t>Solicitudes de servicio:</a:t>
            </a:r>
            <a:r>
              <a:rPr lang="es-419" sz="2800" dirty="0"/>
              <a:t> creación y control de solicitudes.</a:t>
            </a:r>
            <a:endParaRPr lang="es-ES" sz="2800"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419" sz="2800" b="1" dirty="0"/>
              <a:t>Tareas:</a:t>
            </a:r>
            <a:r>
              <a:rPr lang="es-419" sz="2800" dirty="0"/>
              <a:t> administración, asignación y seguimiento de tareas.</a:t>
            </a:r>
            <a:endParaRPr lang="es-PE" sz="2800" dirty="0"/>
          </a:p>
        </p:txBody>
      </p:sp>
      <p:pic>
        <p:nvPicPr>
          <p:cNvPr id="5" name="4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36" y="100636"/>
            <a:ext cx="1169364" cy="116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049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486619" y="3131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Pruebas </a:t>
            </a:r>
            <a:r>
              <a:rPr lang="es-PE" sz="3200" b="1" dirty="0"/>
              <a:t>unitarias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89" y="1841500"/>
            <a:ext cx="10886036" cy="317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4422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486619" y="3131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Pruebas </a:t>
            </a:r>
            <a:r>
              <a:rPr lang="es-PE" sz="3200" b="1" dirty="0"/>
              <a:t>de integración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94" y="1536701"/>
            <a:ext cx="11162026" cy="378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3301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486619" y="3131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Pruebas </a:t>
            </a:r>
            <a:r>
              <a:rPr lang="es-PE" sz="3200" b="1" dirty="0"/>
              <a:t>funcionales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992" y="2387600"/>
            <a:ext cx="10390430" cy="208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6692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486619" y="5798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Pruebas </a:t>
            </a:r>
            <a:r>
              <a:rPr lang="es-PE" sz="3200" b="1" dirty="0"/>
              <a:t>de aceptación (UAT)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53" y="1790701"/>
            <a:ext cx="10527708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6104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486619" y="5798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Registro de defectos</a:t>
            </a:r>
            <a:endParaRPr lang="es-PE" sz="3200" b="1" dirty="0"/>
          </a:p>
        </p:txBody>
      </p:sp>
      <p:sp>
        <p:nvSpPr>
          <p:cNvPr id="3" name="2 Rectángulo"/>
          <p:cNvSpPr/>
          <p:nvPr/>
        </p:nvSpPr>
        <p:spPr>
          <a:xfrm>
            <a:off x="1365089" y="4567893"/>
            <a:ext cx="889434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400" dirty="0"/>
              <a:t>El sistema es funcional y estable en el entorno académico. Cumple los requerimientos y permite gestionar clientes, empleados, administradores, interacciones, solicitudes de servicio y tareas, ofreciendo una experiencia de uso consistente.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059" y="1384005"/>
            <a:ext cx="9550400" cy="2976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689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67160" y="490959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 smtClean="0"/>
              <a:t>Conclusiones</a:t>
            </a:r>
            <a:endParaRPr lang="es-PE" sz="3200" b="1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55600" y="1359683"/>
            <a:ext cx="11074400" cy="486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1" indent="-285750" fontAlgn="base"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kumimoji="0" lang="es-ES" altLang="es-E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El sistema cumple los objetivos planteados y satisface los requerimientos funcionales y no funcionales.</a:t>
            </a:r>
          </a:p>
          <a:p>
            <a:pPr marL="285750" lvl="1" indent="-285750" fontAlgn="base"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kumimoji="0" lang="es-ES" altLang="es-E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Los módulos implementados permiten gestionar administradores, empleados, clientes, interacciones, solicitudes de servicio y tareas de forma eficiente.</a:t>
            </a:r>
          </a:p>
          <a:p>
            <a:pPr marL="285750" lvl="1" indent="-285750" fontAlgn="base"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kumimoji="0" lang="es-ES" altLang="es-E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La arquitectura monolítica y el patrón MVC facilitan la organización y el mantenimiento del código.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Las librerías </a:t>
            </a:r>
            <a:r>
              <a:rPr kumimoji="0" lang="es-ES" altLang="es-E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Twig</a:t>
            </a:r>
            <a:r>
              <a:rPr kumimoji="0" lang="es-ES" altLang="es-E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y </a:t>
            </a:r>
            <a:r>
              <a:rPr kumimoji="0" lang="es-ES" altLang="es-E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Bootstrap</a:t>
            </a:r>
            <a:r>
              <a:rPr kumimoji="0" lang="es-ES" altLang="es-E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aseguran una interfaz clara y consistente.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El proyecto tiene potencial de ampliación con nuevos módulos para cubrir más procesos y mejorar la experiencia del usuario.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El frontend podría evolucionar con librerías modernas como </a:t>
            </a:r>
            <a:r>
              <a:rPr kumimoji="0" lang="es-ES" altLang="es-E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React</a:t>
            </a:r>
            <a:r>
              <a:rPr kumimoji="0" lang="es-ES" altLang="es-E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para mayor interactividad y escalabilidad.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En general, el sistema es estable, funcional y constituye una base sólida para futuras mejoras.</a:t>
            </a:r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36" y="149850"/>
            <a:ext cx="1118564" cy="111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742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mpuesto">
  <a:themeElements>
    <a:clrScheme name="Compuesto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Compuest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uest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A0822EE23C56F46B0048EA2859C2A91" ma:contentTypeVersion="12" ma:contentTypeDescription="Crear nuevo documento." ma:contentTypeScope="" ma:versionID="e924ba9cbd1a2e8c587e68dbf76df524">
  <xsd:schema xmlns:xsd="http://www.w3.org/2001/XMLSchema" xmlns:xs="http://www.w3.org/2001/XMLSchema" xmlns:p="http://schemas.microsoft.com/office/2006/metadata/properties" xmlns:ns2="cc3d0a47-3656-4882-a8c0-2e9e966a89a1" xmlns:ns3="2ff8c3c4-c145-41c4-b9a8-4dd4c511c987" targetNamespace="http://schemas.microsoft.com/office/2006/metadata/properties" ma:root="true" ma:fieldsID="d7c73b9c9a57fedaf2dd451db9d476a5" ns2:_="" ns3:_="">
    <xsd:import namespace="cc3d0a47-3656-4882-a8c0-2e9e966a89a1"/>
    <xsd:import namespace="2ff8c3c4-c145-41c4-b9a8-4dd4c511c987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3d0a47-3656-4882-a8c0-2e9e966a89a1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Etiquetas de imagen" ma:readOnly="false" ma:fieldId="{5cf76f15-5ced-4ddc-b409-7134ff3c332f}" ma:taxonomyMulti="true" ma:sspId="4af7fc5e-2656-4f17-8639-05b4d64833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f8c3c4-c145-41c4-b9a8-4dd4c511c987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fe253fe9-8ec8-4acc-93e4-a6cf905bafeb}" ma:internalName="TaxCatchAll" ma:showField="CatchAllData" ma:web="2ff8c3c4-c145-41c4-b9a8-4dd4c511c9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cc3d0a47-3656-4882-a8c0-2e9e966a89a1" xsi:nil="true"/>
    <TaxCatchAll xmlns="2ff8c3c4-c145-41c4-b9a8-4dd4c511c987" xsi:nil="true"/>
    <lcf76f155ced4ddcb4097134ff3c332f xmlns="cc3d0a47-3656-4882-a8c0-2e9e966a89a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37BFBB2-BE40-4EB6-BF9A-51D8866C38CB}"/>
</file>

<file path=customXml/itemProps2.xml><?xml version="1.0" encoding="utf-8"?>
<ds:datastoreItem xmlns:ds="http://schemas.openxmlformats.org/officeDocument/2006/customXml" ds:itemID="{7A18376B-B9B9-4367-9ACE-D2E0B5DE7FA9}"/>
</file>

<file path=customXml/itemProps3.xml><?xml version="1.0" encoding="utf-8"?>
<ds:datastoreItem xmlns:ds="http://schemas.openxmlformats.org/officeDocument/2006/customXml" ds:itemID="{4309C434-D11C-45CD-A9BE-B0926A3D9B84}"/>
</file>

<file path=docProps/app.xml><?xml version="1.0" encoding="utf-8"?>
<Properties xmlns="http://schemas.openxmlformats.org/officeDocument/2006/extended-properties" xmlns:vt="http://schemas.openxmlformats.org/officeDocument/2006/docPropsVTypes">
  <Template>Composite</Template>
  <TotalTime>105</TotalTime>
  <Words>1176</Words>
  <Application>Microsoft Office PowerPoint</Application>
  <PresentationFormat>Personalizado</PresentationFormat>
  <Paragraphs>160</Paragraphs>
  <Slides>64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64</vt:i4>
      </vt:variant>
    </vt:vector>
  </HeadingPairs>
  <TitlesOfParts>
    <vt:vector size="65" baseType="lpstr">
      <vt:lpstr>Compuesto</vt:lpstr>
      <vt:lpstr>SISTEMA DE GESTIÓN DE CLIENTES PARA UNA EMPRESA DE SERVICIOS</vt:lpstr>
      <vt:lpstr>Descripción del Proyecto</vt:lpstr>
      <vt:lpstr>Límites del sistema</vt:lpstr>
      <vt:lpstr>Viabilidad</vt:lpstr>
      <vt:lpstr>Cronograma</vt:lpstr>
      <vt:lpstr>Requisitos Funcionales</vt:lpstr>
      <vt:lpstr>Requisitos Funcionales</vt:lpstr>
      <vt:lpstr>Casos de uso</vt:lpstr>
      <vt:lpstr>Casos de uso</vt:lpstr>
      <vt:lpstr>Casos de uso</vt:lpstr>
      <vt:lpstr>Casos de uso</vt:lpstr>
      <vt:lpstr>Casos de uso</vt:lpstr>
      <vt:lpstr>Casos de uso</vt:lpstr>
      <vt:lpstr>Casos de uso</vt:lpstr>
      <vt:lpstr>Historias de Usuario</vt:lpstr>
      <vt:lpstr>Historias de Usuario</vt:lpstr>
      <vt:lpstr>Historias de Usuario</vt:lpstr>
      <vt:lpstr>Diagrama de  flujo</vt:lpstr>
      <vt:lpstr>Requisitos No Funcionales</vt:lpstr>
      <vt:lpstr>Diagrama de Arquitectura</vt:lpstr>
      <vt:lpstr>Modelo Entidad - Relación</vt:lpstr>
      <vt:lpstr>Interfaces- Inicio de sesión administradores</vt:lpstr>
      <vt:lpstr>Interfaces – Inicio de sesión empleados</vt:lpstr>
      <vt:lpstr>Interfaces- Gestionar Administradores</vt:lpstr>
      <vt:lpstr>Interfaces – Modificar Administrador</vt:lpstr>
      <vt:lpstr>Interfaces – Modificar Contraseña de Administrador</vt:lpstr>
      <vt:lpstr>Interfaces – Gestionar empleados</vt:lpstr>
      <vt:lpstr>Interfaces – Modificar empleado</vt:lpstr>
      <vt:lpstr>Interfaces – Modificar contraseña del empleado</vt:lpstr>
      <vt:lpstr>Interfaces – Asignar tarea a un empleado</vt:lpstr>
      <vt:lpstr>Interfaces – Gestionar tareas</vt:lpstr>
      <vt:lpstr>Interfaces – Modificar tarea</vt:lpstr>
      <vt:lpstr>Interfaces – Gestionar clientes</vt:lpstr>
      <vt:lpstr>Interfaces – Registrar interacción</vt:lpstr>
      <vt:lpstr>Interfaces – Registrar solicitud servicio</vt:lpstr>
      <vt:lpstr>Interfaces – Modificar cliente</vt:lpstr>
      <vt:lpstr>Interfaces – Gestionar interacciones</vt:lpstr>
      <vt:lpstr>Interfaces – Modificar interacción</vt:lpstr>
      <vt:lpstr>Interfaces – Gestionar solicitudes de servicio</vt:lpstr>
      <vt:lpstr>Interfaces – Modificar solicitud de servicio</vt:lpstr>
      <vt:lpstr>Interfaces – Gestionar tareas desde la cuenta de un empleado</vt:lpstr>
      <vt:lpstr>Interfaces – Actualizar estado de tarea</vt:lpstr>
      <vt:lpstr>Diagramas de navegación – Gestionar administradores</vt:lpstr>
      <vt:lpstr>Diagramas de navegación – Gestionar empleados</vt:lpstr>
      <vt:lpstr>Diagramas de navegación – Gestionar tareas</vt:lpstr>
      <vt:lpstr>Diagramas de navegación – Gestionar clientes</vt:lpstr>
      <vt:lpstr>Diagramas de navegación – Gestionar Interacciones</vt:lpstr>
      <vt:lpstr>Diagramas de navegación – Gestionar solicitudes de servicio</vt:lpstr>
      <vt:lpstr>Diagramas de navegación – Actualizar estado de tareas</vt:lpstr>
      <vt:lpstr>Diagramas de secuencia</vt:lpstr>
      <vt:lpstr>Diagramas de secuencia</vt:lpstr>
      <vt:lpstr>Diagramas de secuencia</vt:lpstr>
      <vt:lpstr>Diagramas de secuencia</vt:lpstr>
      <vt:lpstr>Diagramas de secuencia</vt:lpstr>
      <vt:lpstr>Diagramas de secuencia</vt:lpstr>
      <vt:lpstr>Diagrama de despliegue</vt:lpstr>
      <vt:lpstr>Presentación de PowerPoint</vt:lpstr>
      <vt:lpstr>Desarrollo por módulos</vt:lpstr>
      <vt:lpstr>Pruebas unitarias</vt:lpstr>
      <vt:lpstr>Pruebas de integración</vt:lpstr>
      <vt:lpstr>Pruebas funcionales</vt:lpstr>
      <vt:lpstr>Pruebas de aceptación (UAT)</vt:lpstr>
      <vt:lpstr>Registro de defectos</vt:lpstr>
      <vt:lpstr>Conclusiones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Dinámica poo</dc:title>
  <dc:creator>LAB2-PC11S</dc:creator>
  <cp:lastModifiedBy>Julio David Arnado Rivera</cp:lastModifiedBy>
  <cp:revision>140</cp:revision>
  <dcterms:created xsi:type="dcterms:W3CDTF">2025-11-26T01:38:32Z</dcterms:created>
  <dcterms:modified xsi:type="dcterms:W3CDTF">2025-12-11T02:44:50Z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0x0101007A0822EE23C56F46B0048EA2859C2A91</vt:lpwstr>
  </property>
</Properties>
</file>